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" v="6" dt="2025-11-06T02:28:53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5E80F3-D74A-414F-9D5E-8420D9BDC6CA}" type="datetimeFigureOut"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2D9804-961D-4E45-869F-5D41ED9E3A9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15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“For our project, we used the </a:t>
            </a:r>
            <a:r>
              <a:rPr lang="en-US" b="1" dirty="0"/>
              <a:t>Adult Income dataset</a:t>
            </a:r>
            <a:r>
              <a:rPr lang="en-US" dirty="0"/>
              <a:t> from the </a:t>
            </a:r>
            <a:r>
              <a:rPr lang="en-US" b="1" dirty="0"/>
              <a:t>UCI Machine Learning Repository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 goal was to </a:t>
            </a:r>
            <a:r>
              <a:rPr lang="en-US" b="1" dirty="0"/>
              <a:t>predict whether a person’s income is greater than or equal to $50,000</a:t>
            </a:r>
            <a:r>
              <a:rPr lang="en-US" dirty="0"/>
              <a:t> per year based on demographic and employment attributes.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The dataset includes about </a:t>
            </a:r>
            <a:r>
              <a:rPr lang="en-US" b="1" dirty="0"/>
              <a:t>32,000 training rows</a:t>
            </a:r>
            <a:r>
              <a:rPr lang="en-US" dirty="0"/>
              <a:t> and </a:t>
            </a:r>
            <a:r>
              <a:rPr lang="en-US" b="1" dirty="0"/>
              <a:t>16,000 test rows</a:t>
            </a:r>
            <a:r>
              <a:rPr lang="en-US" dirty="0"/>
              <a:t>, giving us enough data to train and evaluate our models effectively.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We used the </a:t>
            </a:r>
            <a:r>
              <a:rPr lang="en-US" b="1" dirty="0"/>
              <a:t>same dataset as in Project 1</a:t>
            </a:r>
            <a:r>
              <a:rPr lang="en-US" dirty="0"/>
              <a:t>, so this time, we focused more on improving model design and performance.”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D9804-961D-4E45-869F-5D41ED9E3A97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691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 our preprocessing step, we focused on handling missing data properly to avoid skewing the model’s learning.</a:t>
            </a:r>
          </a:p>
          <a:p>
            <a:r>
              <a:rPr lang="en-US" dirty="0"/>
              <a:t>For </a:t>
            </a:r>
            <a:r>
              <a:rPr lang="en-US" b="1" dirty="0"/>
              <a:t>numerical columns</a:t>
            </a:r>
            <a:r>
              <a:rPr lang="en-US" dirty="0"/>
              <a:t>, we replaced missing values with the </a:t>
            </a:r>
            <a:r>
              <a:rPr lang="en-US" b="1" dirty="0"/>
              <a:t>median</a:t>
            </a:r>
            <a:r>
              <a:rPr lang="en-US" dirty="0"/>
              <a:t>. This helps reduce the effect of outliers since the median is more stable than the mean.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For </a:t>
            </a:r>
            <a:r>
              <a:rPr lang="en-US" b="1" dirty="0"/>
              <a:t>categorical columns</a:t>
            </a:r>
            <a:r>
              <a:rPr lang="en-US" dirty="0"/>
              <a:t>, we used the </a:t>
            </a:r>
            <a:r>
              <a:rPr lang="en-US" b="1" dirty="0"/>
              <a:t>mode</a:t>
            </a:r>
            <a:r>
              <a:rPr lang="en-US" dirty="0"/>
              <a:t>, or the most common category, to fill in missing entries.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This ensured that our dataset stayed consistent and complete without introducing any extreme values or bias before training.”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D9804-961D-4E45-869F-5D41ED9E3A97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500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“For our categorical data, we needed to convert text-based variables into a numeric format that the model could understand.</a:t>
            </a:r>
          </a:p>
          <a:p>
            <a:r>
              <a:rPr lang="en-US" dirty="0"/>
              <a:t>To do this, we built a </a:t>
            </a:r>
            <a:r>
              <a:rPr lang="en-US" b="1" dirty="0"/>
              <a:t>pipeline for one-hot encoding</a:t>
            </a:r>
            <a:r>
              <a:rPr lang="en-US" dirty="0"/>
              <a:t>, which turns each category into binary columns — helping the model interpret those features correctly.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After encoding, we applied </a:t>
            </a:r>
            <a:r>
              <a:rPr lang="en-US" b="1" dirty="0"/>
              <a:t>scaling</a:t>
            </a:r>
            <a:r>
              <a:rPr lang="en-US" dirty="0"/>
              <a:t> to all columns so that both numerical and categorical features are on a similar range.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This step ensures the model treats every variable fairly and improves overall training stability.”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D9804-961D-4E45-869F-5D41ED9E3A97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3399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 this step, we focused on transforming our </a:t>
            </a:r>
            <a:r>
              <a:rPr lang="en-US" b="1" dirty="0"/>
              <a:t>target variable</a:t>
            </a:r>
            <a:r>
              <a:rPr lang="en-US" dirty="0"/>
              <a:t>, which is income.</a:t>
            </a:r>
          </a:p>
          <a:p>
            <a:endParaRPr lang="en-US" dirty="0"/>
          </a:p>
          <a:p>
            <a:r>
              <a:rPr lang="en-US" dirty="0"/>
              <a:t>Originally, income was stored as text either ‘&gt;50K’ or ‘≤50K’. To make it usable for machine learning, we </a:t>
            </a:r>
            <a:r>
              <a:rPr lang="en-US" b="1" dirty="0"/>
              <a:t>converted it into a binary format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If a person earns </a:t>
            </a:r>
            <a:r>
              <a:rPr lang="en-US" b="1" dirty="0"/>
              <a:t>more than $50,000</a:t>
            </a:r>
            <a:r>
              <a:rPr lang="en-US" dirty="0"/>
              <a:t>, it’s labeled as </a:t>
            </a:r>
            <a:r>
              <a:rPr lang="en-US" b="1" dirty="0"/>
              <a:t>1</a:t>
            </a:r>
            <a:r>
              <a:rPr lang="en-US" dirty="0"/>
              <a:t>, and if they earn </a:t>
            </a:r>
            <a:r>
              <a:rPr lang="en-US" b="1" dirty="0"/>
              <a:t>less than $50,000</a:t>
            </a:r>
            <a:r>
              <a:rPr lang="en-US" dirty="0"/>
              <a:t>, it’s labeled as </a:t>
            </a:r>
            <a:r>
              <a:rPr lang="en-US" b="1" dirty="0"/>
              <a:t>0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This makes the prediction task a clear </a:t>
            </a:r>
            <a:r>
              <a:rPr lang="en-US" b="1" dirty="0"/>
              <a:t>binary classification problem</a:t>
            </a:r>
            <a:r>
              <a:rPr lang="en-US" dirty="0"/>
              <a:t>, allowing our model to distinguish between higher and lower income groups.”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D9804-961D-4E45-869F-5D41ED9E3A97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402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D9804-961D-4E45-869F-5D41ED9E3A97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190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 find the best model, we used </a:t>
            </a:r>
            <a:r>
              <a:rPr lang="en-US" err="1"/>
              <a:t>GridSearchCV</a:t>
            </a:r>
            <a:r>
              <a:rPr lang="en-US" dirty="0"/>
              <a:t> to test combinations of hyperparameters: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Hidden layer sizes: single layer with 50 nuerons and 100 nuerons and also a multi layer with 50 and 50 and then 100 and 50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Activation functions: ‘</a:t>
            </a:r>
            <a:r>
              <a:rPr lang="en-US" err="1"/>
              <a:t>relu</a:t>
            </a:r>
            <a:r>
              <a:rPr lang="en-US"/>
              <a:t>’ (it outputs zero for any negative input, and passes through positive values unchanged) and ‘tanh’ (useful when you want outputs centered around zero, which can help with convergence)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Perfromed L2 regularization to prevent overfitting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Learning rates: 0.001 and 0.01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/>
              <a:t>The best configuration used ReLU (most likely due to using one hot)</a:t>
            </a:r>
            <a:r>
              <a:rPr lang="en-US" dirty="0"/>
              <a:t>, alpha = 0.001, hidden layer size (50,), and learning rate = 0.001. This gave us a cross-validated accuracy of </a:t>
            </a:r>
            <a:r>
              <a:rPr lang="en-US" b="1"/>
              <a:t>85.65%, which is strong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D9804-961D-4E45-869F-5D41ED9E3A97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9452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Overall, the model is </a:t>
            </a:r>
            <a:r>
              <a:rPr lang="en-US" b="1"/>
              <a:t>highly reliable for predicting low earners</a:t>
            </a:r>
            <a:r>
              <a:rPr lang="en-US"/>
              <a:t>, and </a:t>
            </a:r>
            <a:r>
              <a:rPr lang="en-US" b="1"/>
              <a:t>moderately effective for high earners</a:t>
            </a:r>
            <a:r>
              <a:rPr lang="en-US"/>
              <a:t>. The metrics show a good balance between precision and recall, and the F1-score confirms that the model is robust enough to handle the minority class without overfitting.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D9804-961D-4E45-869F-5D41ED9E3A97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840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confusion matrix confirms our metrics. We had strong true positives and true negatives. False positives and false negatives were present but not excessive. This balance is important in real-world applications where misclassification can have social or financial consequences.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D9804-961D-4E45-869F-5D41ED9E3A97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044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our model, we decided to use </a:t>
            </a:r>
            <a:r>
              <a:rPr lang="en-US" b="1" dirty="0"/>
              <a:t>smaller networks</a:t>
            </a:r>
            <a:r>
              <a:rPr lang="en-US" dirty="0"/>
              <a:t> because our dataset is </a:t>
            </a:r>
            <a:r>
              <a:rPr lang="en-US" b="1" dirty="0"/>
              <a:t>tabular</a:t>
            </a:r>
            <a:r>
              <a:rPr lang="en-US" dirty="0"/>
              <a:t>  meaning the data is structured in rows and columns.</a:t>
            </a:r>
          </a:p>
          <a:p>
            <a:endParaRPr lang="en-US" dirty="0"/>
          </a:p>
          <a:p>
            <a:r>
              <a:rPr lang="en-US" dirty="0"/>
              <a:t> Deep architectures would’ve been unnecessary and could’ve caused overfitting.</a:t>
            </a:r>
          </a:p>
          <a:p>
            <a:endParaRPr lang="en-US" dirty="0"/>
          </a:p>
          <a:p>
            <a:r>
              <a:rPr lang="en-US" dirty="0"/>
              <a:t>For the </a:t>
            </a:r>
            <a:r>
              <a:rPr lang="en-US" b="1" dirty="0"/>
              <a:t>activation function</a:t>
            </a:r>
            <a:r>
              <a:rPr lang="en-US" dirty="0"/>
              <a:t>, we used </a:t>
            </a:r>
            <a:r>
              <a:rPr lang="en-US" b="1" err="1"/>
              <a:t>ReLU</a:t>
            </a:r>
            <a:r>
              <a:rPr lang="en-US" dirty="0"/>
              <a:t>, since it worked best with our </a:t>
            </a:r>
            <a:r>
              <a:rPr lang="en-US" b="1" dirty="0"/>
              <a:t>one-hot encoded inputs</a:t>
            </a:r>
            <a:r>
              <a:rPr lang="en-US" dirty="0"/>
              <a:t> and helped prevent vanishing gradients, keeping learning efficient.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Finally, our </a:t>
            </a:r>
            <a:r>
              <a:rPr lang="en-US" b="1" dirty="0"/>
              <a:t>design goal</a:t>
            </a:r>
            <a:r>
              <a:rPr lang="en-US" dirty="0"/>
              <a:t> was to find the right balance strong enough to learn meaningful patterns but simple enough to </a:t>
            </a:r>
            <a:r>
              <a:rPr lang="en-US" b="1" dirty="0"/>
              <a:t>generalize well</a:t>
            </a:r>
            <a:r>
              <a:rPr lang="en-US" dirty="0"/>
              <a:t> and avoid over-complexity or overfitting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D9804-961D-4E45-869F-5D41ED9E3A97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1070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“For this part, we focused on keeping our model accurate without overfitting.</a:t>
            </a:r>
          </a:p>
          <a:p>
            <a:endParaRPr lang="en-US" dirty="0"/>
          </a:p>
          <a:p>
            <a:r>
              <a:rPr lang="en-US" dirty="0"/>
              <a:t>First, during </a:t>
            </a:r>
            <a:r>
              <a:rPr lang="en-US" b="1" dirty="0"/>
              <a:t>Hyperparameter Tuning</a:t>
            </a:r>
            <a:r>
              <a:rPr lang="en-US" dirty="0"/>
              <a:t>, we used </a:t>
            </a:r>
            <a:r>
              <a:rPr lang="en-US" b="1" dirty="0" err="1"/>
              <a:t>GridSearchCV</a:t>
            </a:r>
            <a:r>
              <a:rPr lang="en-US" dirty="0"/>
              <a:t> with </a:t>
            </a:r>
            <a:r>
              <a:rPr lang="en-US" b="1" dirty="0"/>
              <a:t>3-fold cross-validation</a:t>
            </a:r>
            <a:r>
              <a:rPr lang="en-US" dirty="0"/>
              <a:t>. This allowed us to systematically test parameter combinations and find the best setup for performance and stability.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Next, for </a:t>
            </a:r>
            <a:r>
              <a:rPr lang="en-US" b="1" dirty="0"/>
              <a:t>Overfitting Prevention</a:t>
            </a:r>
            <a:r>
              <a:rPr lang="en-US" dirty="0"/>
              <a:t>, we added several safeguards: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>
                <a:cs typeface="+mn-lt"/>
              </a:rPr>
            </a:br>
            <a:r>
              <a:rPr lang="en-US" dirty="0"/>
              <a:t>We used </a:t>
            </a:r>
            <a:r>
              <a:rPr lang="en-US" b="1" dirty="0"/>
              <a:t>early stopping</a:t>
            </a:r>
            <a:r>
              <a:rPr lang="en-US" dirty="0"/>
              <a:t> to track validation accuracy and stop training when improvement plateaued.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>
                <a:cs typeface="+mn-lt"/>
              </a:rPr>
            </a:br>
            <a:r>
              <a:rPr lang="en-US" dirty="0"/>
              <a:t>We also included </a:t>
            </a:r>
            <a:r>
              <a:rPr lang="en-US" b="1" dirty="0"/>
              <a:t>L2 regularization</a:t>
            </a:r>
            <a:r>
              <a:rPr lang="en-US" dirty="0"/>
              <a:t> and </a:t>
            </a:r>
            <a:r>
              <a:rPr lang="en-US" b="1" dirty="0"/>
              <a:t>limited the number of epochs</a:t>
            </a:r>
            <a:r>
              <a:rPr lang="en-US" dirty="0"/>
              <a:t> to prevent the model from memorizing the data.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>
                <a:cs typeface="+mn-lt"/>
              </a:rPr>
            </a:br>
            <a:r>
              <a:rPr lang="en-US" dirty="0"/>
              <a:t>Finally, we kept our </a:t>
            </a:r>
            <a:r>
              <a:rPr lang="en-US" b="1" dirty="0"/>
              <a:t>architectures smaller</a:t>
            </a:r>
            <a:r>
              <a:rPr lang="en-US" dirty="0"/>
              <a:t> to promote better generalization.</a:t>
            </a:r>
            <a:endParaRPr lang="en-US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For the </a:t>
            </a:r>
            <a:r>
              <a:rPr lang="en-US" b="1" dirty="0"/>
              <a:t>Final Evaluation</a:t>
            </a:r>
            <a:r>
              <a:rPr lang="en-US" dirty="0"/>
              <a:t>, we tested performance on a </a:t>
            </a:r>
            <a:r>
              <a:rPr lang="en-US" b="1" dirty="0"/>
              <a:t>30% hold-out set</a:t>
            </a:r>
            <a:r>
              <a:rPr lang="en-US" dirty="0"/>
              <a:t>  data the model hadn’t seen before to ensure an unbiased and realistic assessment.”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D9804-961D-4E45-869F-5D41ED9E3A97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975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deploying models like ours, </a:t>
            </a:r>
            <a:r>
              <a:rPr lang="en-US" b="1" dirty="0"/>
              <a:t>ethics becomes a major consideration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First, the dataset includes </a:t>
            </a:r>
            <a:r>
              <a:rPr lang="en-US" b="1" dirty="0"/>
              <a:t>sensitive attributes</a:t>
            </a:r>
            <a:r>
              <a:rPr lang="en-US" dirty="0"/>
              <a:t> such as </a:t>
            </a:r>
            <a:r>
              <a:rPr lang="en-US" b="1" dirty="0"/>
              <a:t>race, sex, and marital status</a:t>
            </a:r>
            <a:r>
              <a:rPr lang="en-US" dirty="0"/>
              <a:t>. These variables can unintentionally influence predictions if the model learns patterns tied to them.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This leads to a </a:t>
            </a:r>
            <a:r>
              <a:rPr lang="en-US" b="1" dirty="0"/>
              <a:t>bias concern</a:t>
            </a:r>
            <a:r>
              <a:rPr lang="en-US" dirty="0"/>
              <a:t>  the model could develop </a:t>
            </a:r>
            <a:r>
              <a:rPr lang="en-US" b="1" dirty="0"/>
              <a:t>unfair or discriminatory patterns</a:t>
            </a:r>
            <a:r>
              <a:rPr lang="en-US" dirty="0"/>
              <a:t> toward specific demographic groups, even if that wasn’t our intention.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To address this, we followed a </a:t>
            </a:r>
            <a:r>
              <a:rPr lang="en-US" b="1" dirty="0"/>
              <a:t>mitigation approach</a:t>
            </a:r>
            <a:r>
              <a:rPr lang="en-US" dirty="0"/>
              <a:t>: we recommended conducting </a:t>
            </a:r>
            <a:r>
              <a:rPr lang="en-US" b="1" dirty="0"/>
              <a:t>fairness checks</a:t>
            </a:r>
            <a:r>
              <a:rPr lang="en-US" dirty="0"/>
              <a:t> to detect unequal outcomes and </a:t>
            </a:r>
            <a:r>
              <a:rPr lang="en-US" b="1" dirty="0"/>
              <a:t>consider excluding or de-emphasizing biased variables</a:t>
            </a:r>
            <a:r>
              <a:rPr lang="en-US" dirty="0"/>
              <a:t> when appropriate.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  <a:p>
            <a:r>
              <a:rPr lang="en-US" dirty="0"/>
              <a:t>Overall, the goal is to make sure the model’s predictions remain </a:t>
            </a:r>
            <a:r>
              <a:rPr lang="en-US" b="1" dirty="0"/>
              <a:t>accurate, fair, and ethically responsible</a:t>
            </a:r>
            <a:r>
              <a:rPr lang="en-US" dirty="0"/>
              <a:t>.”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D9804-961D-4E45-869F-5D41ED9E3A97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5671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Activation functions are what make neural networks powerful.</a:t>
            </a:r>
            <a:br>
              <a:rPr lang="en-US" dirty="0">
                <a:cs typeface="+mn-lt"/>
              </a:rPr>
            </a:br>
            <a:r>
              <a:rPr lang="en-US" dirty="0"/>
              <a:t>Without them, all the layers would basically </a:t>
            </a:r>
            <a:r>
              <a:rPr lang="en-US" b="1" dirty="0"/>
              <a:t>collapse into one linear function</a:t>
            </a:r>
            <a:r>
              <a:rPr lang="en-US" dirty="0"/>
              <a:t>, meaning the model couldn’t learn any complex, non-linear relationships in the data.</a:t>
            </a:r>
          </a:p>
          <a:p>
            <a:r>
              <a:rPr lang="en-US" dirty="0"/>
              <a:t>We used </a:t>
            </a:r>
            <a:r>
              <a:rPr lang="en-US" b="1" dirty="0" err="1"/>
              <a:t>ReLU</a:t>
            </a:r>
            <a:r>
              <a:rPr lang="en-US" dirty="0"/>
              <a:t> because it’s fast and efficient  it </a:t>
            </a:r>
            <a:r>
              <a:rPr lang="en-US" b="1" dirty="0"/>
              <a:t>speeds up training</a:t>
            </a:r>
            <a:r>
              <a:rPr lang="en-US" dirty="0"/>
              <a:t> by keeping gradient flow smooth and also </a:t>
            </a:r>
            <a:r>
              <a:rPr lang="en-US" b="1" dirty="0"/>
              <a:t>prevents vanishing gradients</a:t>
            </a:r>
            <a:r>
              <a:rPr lang="en-US" dirty="0"/>
              <a:t>, which helps the model learn more effectively and stay stable during training.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2D9804-961D-4E45-869F-5D41ED9E3A97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54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585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28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940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609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36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920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15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8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58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092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42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273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1A6031-8E90-E75A-BBCD-0593A08DF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6275" y="4098524"/>
            <a:ext cx="5996628" cy="2226076"/>
          </a:xfrm>
        </p:spPr>
        <p:txBody>
          <a:bodyPr anchor="ctr">
            <a:normAutofit/>
          </a:bodyPr>
          <a:lstStyle/>
          <a:p>
            <a:pPr algn="l"/>
            <a:r>
              <a:rPr lang="en-US" sz="5400"/>
              <a:t>Applying MLP</a:t>
            </a:r>
          </a:p>
        </p:txBody>
      </p:sp>
      <p:grpSp>
        <p:nvGrpSpPr>
          <p:cNvPr id="13" name="Bottom Right">
            <a:extLst>
              <a:ext uri="{FF2B5EF4-FFF2-40B4-BE49-F238E27FC236}">
                <a16:creationId xmlns:a16="http://schemas.microsoft.com/office/drawing/2014/main" id="{FD57FA8A-6F6A-4738-A4C4-A1CA44170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722FA65-4717-473D-935C-1E9703E213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5" name="Graphic 157">
              <a:extLst>
                <a:ext uri="{FF2B5EF4-FFF2-40B4-BE49-F238E27FC236}">
                  <a16:creationId xmlns:a16="http://schemas.microsoft.com/office/drawing/2014/main" id="{0481A62F-BE87-4513-97B2-027784C6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00486A8-7935-4814-A88E-8AB9135699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D5DFA27-8F9C-4DAD-841C-EC15FDFDF9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CBD0BA0A-7296-4EF5-8B4C-9644798AB6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5F1A67E-7F6A-4D1C-9630-CEA191C725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5E1300E6-8909-46D4-80E7-2122D24D35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DE4C708C-5388-41A0-984B-3698E2B9EB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95D7DAE6-94E0-4A1D-92A3-7D751872B7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F513D8C-ECEE-40F4-99D3-6C744A1E94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0F68FCF0-138D-4B79-0E00-C2DDFB99A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85430" y="4085112"/>
            <a:ext cx="3997745" cy="2228758"/>
          </a:xfrm>
        </p:spPr>
        <p:txBody>
          <a:bodyPr anchor="ctr">
            <a:normAutofit/>
          </a:bodyPr>
          <a:lstStyle/>
          <a:p>
            <a:pPr algn="l"/>
            <a:r>
              <a:rPr lang="en-US" sz="2200"/>
              <a:t>By: Zach Lanter and Bryan Gutierrez </a:t>
            </a:r>
          </a:p>
        </p:txBody>
      </p:sp>
      <p:pic>
        <p:nvPicPr>
          <p:cNvPr id="24" name="Picture 23" descr="A blue and white background with lines and dots&#10;&#10;AI-generated content may be incorrect.">
            <a:extLst>
              <a:ext uri="{FF2B5EF4-FFF2-40B4-BE49-F238E27FC236}">
                <a16:creationId xmlns:a16="http://schemas.microsoft.com/office/drawing/2014/main" id="{8864ABB3-E85A-10F9-116B-E617957941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726" r="-2" b="29503"/>
          <a:stretch>
            <a:fillRect/>
          </a:stretch>
        </p:blipFill>
        <p:spPr>
          <a:xfrm>
            <a:off x="619841" y="10"/>
            <a:ext cx="11084189" cy="3854020"/>
          </a:xfrm>
          <a:custGeom>
            <a:avLst/>
            <a:gdLst/>
            <a:ahLst/>
            <a:cxnLst/>
            <a:rect l="l" t="t" r="r" b="b"/>
            <a:pathLst>
              <a:path w="11084189" h="3854030">
                <a:moveTo>
                  <a:pt x="0" y="0"/>
                </a:moveTo>
                <a:lnTo>
                  <a:pt x="11084189" y="0"/>
                </a:lnTo>
                <a:lnTo>
                  <a:pt x="11061525" y="105743"/>
                </a:lnTo>
                <a:cubicBezTo>
                  <a:pt x="10536186" y="2244886"/>
                  <a:pt x="8264668" y="3854030"/>
                  <a:pt x="5542094" y="3854030"/>
                </a:cubicBezTo>
                <a:cubicBezTo>
                  <a:pt x="2819520" y="3854030"/>
                  <a:pt x="548002" y="2244886"/>
                  <a:pt x="22663" y="105743"/>
                </a:cubicBezTo>
                <a:close/>
              </a:path>
            </a:pathLst>
          </a:custGeom>
        </p:spPr>
      </p:pic>
      <p:grpSp>
        <p:nvGrpSpPr>
          <p:cNvPr id="25" name="Top Left">
            <a:extLst>
              <a:ext uri="{FF2B5EF4-FFF2-40B4-BE49-F238E27FC236}">
                <a16:creationId xmlns:a16="http://schemas.microsoft.com/office/drawing/2014/main" id="{FA83938A-824D-4A58-A16F-424E25498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10849" y="15178"/>
            <a:chExt cx="2198951" cy="3331254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7029D1-A024-479E-8B61-B6C59454B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D14A3F6-E603-4A77-BE8B-52A8CC119F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3BABB92-B7C9-439B-A407-C26CAC92F0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3806CE1-04AF-4087-986A-DBEB745015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73482B9-3ACD-4DBF-BF7A-865B7BBD10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F72E41-C373-4050-A899-B9FDE5113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B521439-93BF-4D49-9EB4-9FA7981865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4" name="Cross">
            <a:extLst>
              <a:ext uri="{FF2B5EF4-FFF2-40B4-BE49-F238E27FC236}">
                <a16:creationId xmlns:a16="http://schemas.microsoft.com/office/drawing/2014/main" id="{8593C7C3-23A8-4377-B2A6-0AA4120CF0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" y="553414"/>
            <a:ext cx="118872" cy="118872"/>
            <a:chOff x="1175347" y="3733800"/>
            <a:chExt cx="118872" cy="118872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DF09466-D21B-48B6-B71E-2E3DC7068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5E19A168-D974-4872-8F82-BDB7121D1A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8" name="Cross">
            <a:extLst>
              <a:ext uri="{FF2B5EF4-FFF2-40B4-BE49-F238E27FC236}">
                <a16:creationId xmlns:a16="http://schemas.microsoft.com/office/drawing/2014/main" id="{B531CCBB-545A-412B-89AF-AEB3068A7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14400" y="705814"/>
            <a:ext cx="118872" cy="118872"/>
            <a:chOff x="1175347" y="3733800"/>
            <a:chExt cx="118872" cy="118872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8FD4C8-4A36-4CB1-9391-65AA566FF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75FC3684-0929-46EE-A97F-3BEE86C8F4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088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0EA4B-D519-D2DE-5950-B5200ADF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Dataset &amp; Goal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BF94D-485C-36B0-E0A8-F34DB08B5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Adult Income dataset (UCI)</a:t>
            </a:r>
            <a:endParaRPr lang="en-US" dirty="0"/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Task: predict whether income &gt;= $50k</a:t>
            </a:r>
          </a:p>
          <a:p>
            <a:endParaRPr lang="en-US"/>
          </a:p>
          <a:p>
            <a:r>
              <a:rPr lang="en-US" dirty="0">
                <a:ea typeface="+mn-lt"/>
                <a:cs typeface="+mn-lt"/>
              </a:rPr>
              <a:t>32,561 training rows, 16,281 test rows</a:t>
            </a:r>
            <a:endParaRPr lang="en-US" dirty="0"/>
          </a:p>
          <a:p>
            <a:endParaRPr lang="en-US"/>
          </a:p>
          <a:p>
            <a:r>
              <a:rPr lang="en-US" dirty="0"/>
              <a:t>Same data from Project 1</a:t>
            </a:r>
            <a:endParaRPr lang="en-US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521665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F426D-B2BC-36BC-7F39-FF4D1717E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solidFill>
                  <a:schemeClr val="tx1"/>
                </a:solidFill>
              </a:rPr>
              <a:t>Preprocessing – Handling missing Values</a:t>
            </a:r>
            <a:endParaRPr lang="en-US"/>
          </a:p>
        </p:txBody>
      </p:sp>
      <p:pic>
        <p:nvPicPr>
          <p:cNvPr id="4" name="Content Placeholder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2983D980-28A1-5492-923E-302E96317C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04415" y="1758323"/>
            <a:ext cx="8383170" cy="2772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08373F-4794-DF7E-1AE6-779A01B792B0}"/>
              </a:ext>
            </a:extLst>
          </p:cNvPr>
          <p:cNvSpPr txBox="1"/>
          <p:nvPr/>
        </p:nvSpPr>
        <p:spPr>
          <a:xfrm>
            <a:off x="1385977" y="5032075"/>
            <a:ext cx="952931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Missing Values: </a:t>
            </a:r>
          </a:p>
          <a:p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For numerical columns, replace nulls with the median</a:t>
            </a:r>
          </a:p>
          <a:p>
            <a:pPr marL="285750" indent="-285750">
              <a:buFontTx/>
              <a:buChar char="-"/>
            </a:pPr>
            <a:endParaRPr lang="en-US"/>
          </a:p>
          <a:p>
            <a:pPr marL="285750" indent="-285750">
              <a:buFontTx/>
              <a:buChar char="-"/>
            </a:pPr>
            <a:r>
              <a:rPr lang="en-US"/>
              <a:t>For categorical columns, replace missing values with the mode</a:t>
            </a:r>
          </a:p>
        </p:txBody>
      </p:sp>
    </p:spTree>
    <p:extLst>
      <p:ext uri="{BB962C8B-B14F-4D97-AF65-F5344CB8AC3E}">
        <p14:creationId xmlns:p14="http://schemas.microsoft.com/office/powerpoint/2010/main" val="708341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AC850-3D2B-AD81-B33B-F8396181F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Preprocessing – Categorical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9B695-5FD3-FD0E-CFC8-9346D9B3C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/>
              <a:t>To get categorical data able to work with, we created a pipeline for one-hot encoding</a:t>
            </a:r>
          </a:p>
          <a:p>
            <a:r>
              <a:rPr lang="en-US" sz="2400"/>
              <a:t> To finish the preprocessing, transform all columns to scale</a:t>
            </a:r>
          </a:p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F57CB0-AE42-838E-8336-44856DE25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596" y="3722298"/>
            <a:ext cx="8995913" cy="266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952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A8EE4-70D9-6ABE-9A2E-E46CA61F3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Preprocessing – Numerical Values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31283A0-7E92-A0D4-D706-99E2DE6F6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 Transform the income (our target variable) to be binary.</a:t>
            </a:r>
            <a:endParaRPr lang="en-US" dirty="0">
              <a:cs typeface="Segoe UI"/>
            </a:endParaRPr>
          </a:p>
          <a:p>
            <a:r>
              <a:rPr lang="en-US" dirty="0"/>
              <a:t> &gt;= 50k income is a 1 and &lt; 50k income is 0</a:t>
            </a:r>
            <a:endParaRPr lang="en-US" dirty="0">
              <a:cs typeface="Segoe UI"/>
            </a:endParaRPr>
          </a:p>
        </p:txBody>
      </p:sp>
      <p:pic>
        <p:nvPicPr>
          <p:cNvPr id="8" name="Picture 7" descr="A black background with colorful letters&#10;&#10;AI-generated content may be incorrect.">
            <a:extLst>
              <a:ext uri="{FF2B5EF4-FFF2-40B4-BE49-F238E27FC236}">
                <a16:creationId xmlns:a16="http://schemas.microsoft.com/office/drawing/2014/main" id="{798C64EE-1088-5523-9262-222FEB3AC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512" y="4095148"/>
            <a:ext cx="85629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709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7E867-D99E-0ACF-E8C6-DA7524D534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Performing MLP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A42497-4F90-7315-EF39-4B06A0E705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265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5" name="Top left">
            <a:extLst>
              <a:ext uri="{FF2B5EF4-FFF2-40B4-BE49-F238E27FC236}">
                <a16:creationId xmlns:a16="http://schemas.microsoft.com/office/drawing/2014/main" id="{34B438D8-EF7C-445C-8B7F-953BEB1BC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FE087E2-E4B7-42FA-A441-7EDEE41B0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61B2EF2-665F-429A-9CFB-08C14FAC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B0B1C71-6C49-4F64-8859-9CC59D7D9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6BBF9FA-27D4-45DF-8D9C-623EA4106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F2F0D01-71CB-4693-A192-5BA045A5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740E1FB-ACD1-41FC-9828-9B5D2CAA7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2BABC85-DC43-42B8-8AAA-9198D7A62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48F9955-240E-4180-81B8-5909B1A91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7CA4A1-B3CC-541E-8775-C500713D9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3988369" cy="22368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Train and Test while Tuning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125930-06BD-154B-7F95-372030DE1865}"/>
              </a:ext>
            </a:extLst>
          </p:cNvPr>
          <p:cNvSpPr txBox="1"/>
          <p:nvPr/>
        </p:nvSpPr>
        <p:spPr>
          <a:xfrm>
            <a:off x="1185756" y="2955401"/>
            <a:ext cx="3988112" cy="31576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57150" indent="-285750">
              <a:lnSpc>
                <a:spcPct val="110000"/>
              </a:lnSpc>
              <a:spcAft>
                <a:spcPts val="600"/>
              </a:spcAft>
              <a:buClr>
                <a:schemeClr val="accent5"/>
              </a:buClr>
              <a:buFont typeface="Calibri" panose="020B0504020202020204" pitchFamily="34" charset="0"/>
              <a:buChar char="-"/>
            </a:pPr>
            <a:r>
              <a:rPr lang="en-US" dirty="0">
                <a:solidFill>
                  <a:schemeClr val="tx2"/>
                </a:solidFill>
              </a:rPr>
              <a:t>Best parameters – </a:t>
            </a:r>
          </a:p>
          <a:p>
            <a:pPr>
              <a:lnSpc>
                <a:spcPct val="110000"/>
              </a:lnSpc>
              <a:spcAft>
                <a:spcPts val="600"/>
              </a:spcAft>
              <a:buClr>
                <a:schemeClr val="accent5"/>
              </a:buClr>
            </a:pPr>
            <a:r>
              <a:rPr lang="en-US" dirty="0">
                <a:solidFill>
                  <a:schemeClr val="tx2"/>
                </a:solidFill>
              </a:rPr>
              <a:t>activation: </a:t>
            </a:r>
            <a:r>
              <a:rPr lang="en-US" b="1" dirty="0">
                <a:solidFill>
                  <a:schemeClr val="tx2"/>
                </a:solidFill>
              </a:rPr>
              <a:t>'</a:t>
            </a:r>
            <a:r>
              <a:rPr lang="en-US" b="1" dirty="0" err="1">
                <a:solidFill>
                  <a:schemeClr val="tx2"/>
                </a:solidFill>
              </a:rPr>
              <a:t>relu</a:t>
            </a:r>
            <a:r>
              <a:rPr lang="en-US" b="1" dirty="0">
                <a:solidFill>
                  <a:schemeClr val="tx2"/>
                </a:solidFill>
              </a:rPr>
              <a:t>'</a:t>
            </a:r>
            <a:r>
              <a:rPr lang="en-US" dirty="0">
                <a:solidFill>
                  <a:schemeClr val="tx2"/>
                </a:solidFill>
              </a:rPr>
              <a:t>,</a:t>
            </a:r>
            <a:r>
              <a:rPr lang="en-US" b="1" dirty="0">
                <a:solidFill>
                  <a:schemeClr val="tx2"/>
                </a:solidFill>
              </a:rPr>
              <a:t> </a:t>
            </a:r>
            <a:r>
              <a:rPr lang="en-US" dirty="0">
                <a:solidFill>
                  <a:schemeClr val="tx2"/>
                </a:solidFill>
              </a:rPr>
              <a:t>alpha: </a:t>
            </a:r>
            <a:r>
              <a:rPr lang="en-US" b="1" dirty="0">
                <a:solidFill>
                  <a:schemeClr val="tx2"/>
                </a:solidFill>
              </a:rPr>
              <a:t>0.001</a:t>
            </a:r>
            <a:r>
              <a:rPr lang="en-US" dirty="0">
                <a:solidFill>
                  <a:schemeClr val="tx2"/>
                </a:solidFill>
              </a:rPr>
              <a:t>, hidden layer size: </a:t>
            </a:r>
            <a:r>
              <a:rPr lang="en-US" b="1" dirty="0">
                <a:solidFill>
                  <a:schemeClr val="tx2"/>
                </a:solidFill>
              </a:rPr>
              <a:t>(50,) </a:t>
            </a:r>
            <a:r>
              <a:rPr lang="en-US" dirty="0">
                <a:solidFill>
                  <a:schemeClr val="tx2"/>
                </a:solidFill>
              </a:rPr>
              <a:t>learning rate: </a:t>
            </a:r>
            <a:r>
              <a:rPr lang="en-US" b="1" dirty="0">
                <a:solidFill>
                  <a:schemeClr val="tx2"/>
                </a:solidFill>
              </a:rPr>
              <a:t>0.001</a:t>
            </a:r>
            <a:endParaRPr lang="en-US" b="1" dirty="0">
              <a:solidFill>
                <a:schemeClr val="tx2"/>
              </a:solidFill>
              <a:cs typeface="Segoe UI"/>
            </a:endParaRPr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chemeClr val="accent5"/>
              </a:buClr>
              <a:buFont typeface="Calibri" panose="020B0504020202020204" pitchFamily="34" charset="0"/>
              <a:buChar char="-"/>
            </a:pPr>
            <a:endParaRPr lang="en-US">
              <a:solidFill>
                <a:schemeClr val="tx2"/>
              </a:solidFill>
              <a:cs typeface="Segoe UI"/>
            </a:endParaRPr>
          </a:p>
          <a:p>
            <a:pPr indent="-228600">
              <a:lnSpc>
                <a:spcPct val="110000"/>
              </a:lnSpc>
              <a:spcAft>
                <a:spcPts val="600"/>
              </a:spcAft>
              <a:buClr>
                <a:schemeClr val="accent5"/>
              </a:buClr>
              <a:buFont typeface="Calibri" panose="020B0504020202020204" pitchFamily="34" charset="0"/>
              <a:buChar char="-"/>
            </a:pPr>
            <a:r>
              <a:rPr lang="en-US" dirty="0">
                <a:solidFill>
                  <a:schemeClr val="tx2"/>
                </a:solidFill>
              </a:rPr>
              <a:t>Best cross-validated accuracy: </a:t>
            </a:r>
            <a:r>
              <a:rPr lang="en-US" b="1" dirty="0">
                <a:solidFill>
                  <a:schemeClr val="tx2"/>
                </a:solidFill>
              </a:rPr>
              <a:t>0.8565</a:t>
            </a:r>
            <a:endParaRPr lang="en-US" b="1" dirty="0">
              <a:solidFill>
                <a:schemeClr val="tx2"/>
              </a:solidFill>
              <a:cs typeface="Segoe UI"/>
            </a:endParaRPr>
          </a:p>
        </p:txBody>
      </p:sp>
      <p:pic>
        <p:nvPicPr>
          <p:cNvPr id="5" name="Content Placeholder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085D250-CDCC-82BA-B33B-363081B3F2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02903" y="2308615"/>
            <a:ext cx="6387190" cy="2235516"/>
          </a:xfrm>
          <a:prstGeom prst="rect">
            <a:avLst/>
          </a:prstGeom>
        </p:spPr>
      </p:pic>
      <p:grpSp>
        <p:nvGrpSpPr>
          <p:cNvPr id="25" name="Bottom Right">
            <a:extLst>
              <a:ext uri="{FF2B5EF4-FFF2-40B4-BE49-F238E27FC236}">
                <a16:creationId xmlns:a16="http://schemas.microsoft.com/office/drawing/2014/main" id="{284021E3-6F46-410C-BF43-B2DED7365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48AF179-3265-4A10-A62C-92B7E186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7" name="Graphic 157">
              <a:extLst>
                <a:ext uri="{FF2B5EF4-FFF2-40B4-BE49-F238E27FC236}">
                  <a16:creationId xmlns:a16="http://schemas.microsoft.com/office/drawing/2014/main" id="{30DF5C12-B34D-4E70-8FD0-D98069994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9589785B-0300-4D1C-BEFB-DCA5AA045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7F41DF3E-3189-428F-B4FE-AACA35130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7C51D846-61EF-4EB5-BE03-65A572A2EA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C5417C86-AA6B-4AD4-BD75-694E8E073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51D5067E-85F6-4202-AFB5-41F9C9EA74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A9598395-257E-4B18-949B-50F109866B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39DDA522-37EB-48B3-9B62-748F75D36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9D8F012-98AD-4320-BA44-DE1CE4E4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0745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65891-02E3-BBB6-09F8-881A47381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7ACD87-092A-BC06-5C74-31A5AC9176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23779"/>
            <a:ext cx="2419688" cy="10955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BE2E62-6838-440E-5AB0-2E9B34C090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661369"/>
            <a:ext cx="4285891" cy="26292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53B0BB-912A-40E0-20D4-CCCEB43C4785}"/>
              </a:ext>
            </a:extLst>
          </p:cNvPr>
          <p:cNvSpPr txBox="1"/>
          <p:nvPr/>
        </p:nvSpPr>
        <p:spPr>
          <a:xfrm>
            <a:off x="5589917" y="1127185"/>
            <a:ext cx="5888966" cy="23391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600" b="1" dirty="0"/>
              <a:t>Test Accuracy: </a:t>
            </a:r>
            <a:r>
              <a:rPr lang="en-US" sz="1600" dirty="0"/>
              <a:t>Strong overall predictions</a:t>
            </a:r>
          </a:p>
          <a:p>
            <a:endParaRPr lang="en-US" sz="1600"/>
          </a:p>
          <a:p>
            <a:r>
              <a:rPr lang="en-US" sz="1600" b="1" dirty="0"/>
              <a:t>Test Precision: </a:t>
            </a:r>
            <a:r>
              <a:rPr lang="en-US" sz="1600" dirty="0"/>
              <a:t>Reliable &gt;50K predictions with few false positives</a:t>
            </a:r>
            <a:endParaRPr lang="en-US" sz="1600" dirty="0">
              <a:cs typeface="Segoe UI"/>
            </a:endParaRPr>
          </a:p>
          <a:p>
            <a:endParaRPr lang="en-US" sz="1600"/>
          </a:p>
          <a:p>
            <a:r>
              <a:rPr lang="en-US" sz="1600" b="1" dirty="0"/>
              <a:t>Test Recall: </a:t>
            </a:r>
            <a:r>
              <a:rPr lang="en-US" sz="1600" dirty="0"/>
              <a:t>Captures 2/3 of true &gt;50K cases despite imbalance</a:t>
            </a:r>
            <a:endParaRPr lang="en-US" sz="1600" dirty="0">
              <a:cs typeface="Segoe UI"/>
            </a:endParaRPr>
          </a:p>
          <a:p>
            <a:endParaRPr lang="en-US" sz="1600"/>
          </a:p>
          <a:p>
            <a:r>
              <a:rPr lang="en-US" sz="1600" b="1"/>
              <a:t>Test F1-Score:</a:t>
            </a:r>
            <a:r>
              <a:rPr lang="en-US" sz="1600" dirty="0"/>
              <a:t> </a:t>
            </a:r>
            <a:r>
              <a:rPr lang="en-US" sz="1600"/>
              <a:t>reliable predictions for the &gt;50k class</a:t>
            </a:r>
            <a:endParaRPr lang="en-US" sz="1600">
              <a:cs typeface="Segoe UI"/>
            </a:endParaRPr>
          </a:p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6C7F5E-1C1C-7B4E-CB44-2FF145D9B65F}"/>
              </a:ext>
            </a:extLst>
          </p:cNvPr>
          <p:cNvSpPr txBox="1"/>
          <p:nvPr/>
        </p:nvSpPr>
        <p:spPr>
          <a:xfrm>
            <a:off x="5802702" y="3772619"/>
            <a:ext cx="588896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/>
              <a:t>&lt;=50K Class</a:t>
            </a:r>
            <a:r>
              <a:rPr lang="en-US" sz="1600"/>
              <a:t>: High performance (~90 percent) </a:t>
            </a:r>
          </a:p>
          <a:p>
            <a:endParaRPr lang="en-US" sz="1600"/>
          </a:p>
          <a:p>
            <a:r>
              <a:rPr lang="en-US" sz="1600"/>
              <a:t>Model excels at identifying low earners </a:t>
            </a:r>
          </a:p>
          <a:p>
            <a:endParaRPr lang="en-US" sz="1600"/>
          </a:p>
          <a:p>
            <a:r>
              <a:rPr lang="en-US" sz="1600" b="1"/>
              <a:t>&gt;50K Class</a:t>
            </a:r>
            <a:r>
              <a:rPr lang="en-US" sz="1600"/>
              <a:t>: Moderate (~67 percent) </a:t>
            </a:r>
          </a:p>
          <a:p>
            <a:endParaRPr lang="en-US" sz="1600"/>
          </a:p>
          <a:p>
            <a:r>
              <a:rPr lang="en-US" sz="1600"/>
              <a:t> Balanced detection for minority class despite imbalance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180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6" name="Top left">
            <a:extLst>
              <a:ext uri="{FF2B5EF4-FFF2-40B4-BE49-F238E27FC236}">
                <a16:creationId xmlns:a16="http://schemas.microsoft.com/office/drawing/2014/main" id="{F91F4035-959D-40EA-9ED3-54D7D9F4F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45E2AF-1845-4545-A9FF-7D3216584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E7A2A2-15E6-4A15-B530-5E032A5FF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3B03F4F-8EDD-464C-81E1-C164C24659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8F01ECD-47F6-44CD-B4AB-0FBD815247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10932A3-4E58-4C01-9A56-C81D17B10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85BB675-7BE0-4CA1-9AD5-ED4D025B2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BF42C07-1CBF-40FB-9E81-0F5B32149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D2ED55B-6CCB-4D83-829D-7A094A260A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7C52FB-842C-E311-DAAA-928A75F03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10246090" cy="1471193"/>
          </a:xfrm>
        </p:spPr>
        <p:txBody>
          <a:bodyPr>
            <a:normAutofit/>
          </a:bodyPr>
          <a:lstStyle/>
          <a:p>
            <a:r>
              <a:rPr lang="en-US"/>
              <a:t>Confusion Matrix</a:t>
            </a:r>
          </a:p>
        </p:txBody>
      </p:sp>
      <p:pic>
        <p:nvPicPr>
          <p:cNvPr id="5" name="Content Placeholder 4" descr="A blue and white diagram&#10;&#10;AI-generated content may be incorrect.">
            <a:extLst>
              <a:ext uri="{FF2B5EF4-FFF2-40B4-BE49-F238E27FC236}">
                <a16:creationId xmlns:a16="http://schemas.microsoft.com/office/drawing/2014/main" id="{8B34D20F-4801-AF72-67D6-A7BAE6259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828" y="2304937"/>
            <a:ext cx="4715977" cy="3808151"/>
          </a:xfrm>
          <a:prstGeom prst="rect">
            <a:avLst/>
          </a:prstGeom>
        </p:spPr>
      </p:pic>
      <p:grpSp>
        <p:nvGrpSpPr>
          <p:cNvPr id="26" name="Bottom Right">
            <a:extLst>
              <a:ext uri="{FF2B5EF4-FFF2-40B4-BE49-F238E27FC236}">
                <a16:creationId xmlns:a16="http://schemas.microsoft.com/office/drawing/2014/main" id="{F8C79A14-3318-47D6-94E0-D72F5E6F5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011FF69-E5EB-4D05-9167-FE7DA4CF1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8" name="Graphic 157">
              <a:extLst>
                <a:ext uri="{FF2B5EF4-FFF2-40B4-BE49-F238E27FC236}">
                  <a16:creationId xmlns:a16="http://schemas.microsoft.com/office/drawing/2014/main" id="{9905169A-D272-4155-9E47-5703960833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1116A2A-960D-43CF-8696-9D4FD7BD6C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31F80BC2-A486-4B4F-917D-CE7920E066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898188E1-7424-46DB-AEAE-8392162B75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4B6B101-6F39-41E0-99FA-32DDD9AFD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55DA8B34-60DC-484F-A43B-470626EB66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F51478F3-89B4-4150-9B1C-EDC4B61E27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DC5B79A9-93A6-4C42-87F3-DC4DBA1522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4B5EEC1-94B8-4DD2-B1B7-F7FF10989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506ABE-2F5A-EFDC-2456-5C7C5B46D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2" y="2304938"/>
            <a:ext cx="4967269" cy="3808150"/>
          </a:xfrm>
        </p:spPr>
        <p:txBody>
          <a:bodyPr>
            <a:normAutofit/>
          </a:bodyPr>
          <a:lstStyle/>
          <a:p>
            <a:r>
              <a:rPr lang="en-US" sz="1800"/>
              <a:t>Performs well in True Negatives and True Positives</a:t>
            </a:r>
          </a:p>
          <a:p>
            <a:endParaRPr lang="en-US" sz="1800"/>
          </a:p>
          <a:p>
            <a:r>
              <a:rPr lang="en-US" sz="1800"/>
              <a:t>False Negatives and False Positives are a little high but not alarming</a:t>
            </a:r>
          </a:p>
        </p:txBody>
      </p:sp>
    </p:spTree>
    <p:extLst>
      <p:ext uri="{BB962C8B-B14F-4D97-AF65-F5344CB8AC3E}">
        <p14:creationId xmlns:p14="http://schemas.microsoft.com/office/powerpoint/2010/main" val="346841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A8F92-DC6E-1E0B-0C3B-793497D71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688" y="317228"/>
            <a:ext cx="11364190" cy="1334222"/>
          </a:xfrm>
        </p:spPr>
        <p:txBody>
          <a:bodyPr>
            <a:normAutofit fontScale="90000"/>
          </a:bodyPr>
          <a:lstStyle/>
          <a:p>
            <a:endParaRPr lang="en-US"/>
          </a:p>
          <a:p>
            <a:endParaRPr lang="en-US"/>
          </a:p>
          <a:p>
            <a:r>
              <a:rPr lang="en-US" dirty="0">
                <a:ea typeface="+mj-lt"/>
                <a:cs typeface="+mj-lt"/>
              </a:rPr>
              <a:t>Why did we choose the specific architecture?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EFB92-1C66-4B96-C5B7-952E6E6E0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541" y="2210956"/>
            <a:ext cx="10524259" cy="452451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>
                <a:ea typeface="+mn-lt"/>
                <a:cs typeface="+mn-lt"/>
              </a:rPr>
              <a:t>Smaller Networks: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Chosen because the dataset is tabular</a:t>
            </a:r>
            <a:r>
              <a:rPr lang="en-US">
                <a:ea typeface="+mn-lt"/>
                <a:cs typeface="+mn-lt"/>
              </a:rPr>
              <a:t>, so deep architectures weren’t necessary.</a:t>
            </a:r>
            <a:endParaRPr lang="en-US">
              <a:cs typeface="Segoe UI"/>
            </a:endParaRPr>
          </a:p>
          <a:p>
            <a:r>
              <a:rPr lang="en-US" b="1">
                <a:ea typeface="+mn-lt"/>
                <a:cs typeface="+mn-lt"/>
              </a:rPr>
              <a:t>Activation Function:</a:t>
            </a:r>
            <a:br>
              <a:rPr lang="en-US" b="1">
                <a:ea typeface="+mn-lt"/>
                <a:cs typeface="+mn-lt"/>
              </a:rPr>
            </a:br>
            <a:r>
              <a:rPr lang="en-US" b="1" err="1">
                <a:ea typeface="+mn-lt"/>
                <a:cs typeface="+mn-lt"/>
              </a:rPr>
              <a:t>ReLu</a:t>
            </a:r>
            <a:r>
              <a:rPr lang="en-US">
                <a:ea typeface="+mn-lt"/>
                <a:cs typeface="+mn-lt"/>
              </a:rPr>
              <a:t> performed best with one-hot encoded inputs, preventing vanishing gradients.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Model Design Goal: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Balance learning power</a:t>
            </a:r>
            <a:r>
              <a:rPr lang="en-US">
                <a:ea typeface="+mn-lt"/>
                <a:cs typeface="+mn-lt"/>
              </a:rPr>
              <a:t> and </a:t>
            </a:r>
            <a:r>
              <a:rPr lang="en-US" b="1">
                <a:ea typeface="+mn-lt"/>
                <a:cs typeface="+mn-lt"/>
              </a:rPr>
              <a:t>generalization</a:t>
            </a:r>
            <a:r>
              <a:rPr lang="en-US">
                <a:ea typeface="+mn-lt"/>
                <a:cs typeface="+mn-lt"/>
              </a:rPr>
              <a:t> while avoiding </a:t>
            </a:r>
            <a:r>
              <a:rPr lang="en-US" b="1">
                <a:ea typeface="+mn-lt"/>
                <a:cs typeface="+mn-lt"/>
              </a:rPr>
              <a:t>over-complexity</a:t>
            </a:r>
            <a:r>
              <a:rPr lang="en-US">
                <a:ea typeface="+mn-lt"/>
                <a:cs typeface="+mn-lt"/>
              </a:rPr>
              <a:t> and overfitting.</a:t>
            </a:r>
            <a:endParaRPr lang="en-US"/>
          </a:p>
          <a:p>
            <a:endParaRPr lang="en-US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84465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FCA78-5B51-4EA6-0F07-2E787E2A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  <a:p>
            <a:endParaRPr lang="en-US"/>
          </a:p>
          <a:p>
            <a:r>
              <a:rPr lang="en-US">
                <a:ea typeface="+mj-lt"/>
                <a:cs typeface="+mj-lt"/>
              </a:rPr>
              <a:t>How did you monitor and mitigate overfitting in your models?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734F1-F2AD-77DA-D0D7-4B0A07E1A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973" y="2184977"/>
            <a:ext cx="10515600" cy="435133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Arial" panose="020B0504020202020204" pitchFamily="34" charset="0"/>
              <a:buChar char="•"/>
            </a:pPr>
            <a:r>
              <a:rPr lang="en-US" b="1">
                <a:ea typeface="+mn-lt"/>
                <a:cs typeface="+mn-lt"/>
              </a:rPr>
              <a:t>Hyperparameter Tuning: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Used </a:t>
            </a:r>
            <a:r>
              <a:rPr lang="en-US" b="1" err="1">
                <a:ea typeface="+mn-lt"/>
                <a:cs typeface="+mn-lt"/>
              </a:rPr>
              <a:t>GridSearchCV</a:t>
            </a:r>
            <a:r>
              <a:rPr lang="en-US">
                <a:ea typeface="+mn-lt"/>
                <a:cs typeface="+mn-lt"/>
              </a:rPr>
              <a:t> with </a:t>
            </a:r>
            <a:r>
              <a:rPr lang="en-US" b="1">
                <a:ea typeface="+mn-lt"/>
                <a:cs typeface="+mn-lt"/>
              </a:rPr>
              <a:t>3-fold cross-validation</a:t>
            </a:r>
            <a:r>
              <a:rPr lang="en-US">
                <a:ea typeface="+mn-lt"/>
                <a:cs typeface="+mn-lt"/>
              </a:rPr>
              <a:t> to find optimal parameters.</a:t>
            </a:r>
            <a:endParaRPr lang="en-US"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r>
              <a:rPr lang="en-US" b="1" dirty="0">
                <a:ea typeface="+mn-lt"/>
                <a:cs typeface="+mn-lt"/>
              </a:rPr>
              <a:t>Overfitting Prevention:</a:t>
            </a:r>
            <a:endParaRPr lang="en-US" dirty="0">
              <a:cs typeface="Segoe UI"/>
            </a:endParaRPr>
          </a:p>
          <a:p>
            <a:pPr lvl="1"/>
            <a:r>
              <a:rPr lang="en-US">
                <a:ea typeface="+mn-lt"/>
                <a:cs typeface="+mn-lt"/>
              </a:rPr>
              <a:t>Implemented </a:t>
            </a:r>
            <a:r>
              <a:rPr lang="en-US" b="1">
                <a:ea typeface="+mn-lt"/>
                <a:cs typeface="+mn-lt"/>
              </a:rPr>
              <a:t>early stopping</a:t>
            </a:r>
            <a:r>
              <a:rPr lang="en-US">
                <a:ea typeface="+mn-lt"/>
                <a:cs typeface="+mn-lt"/>
              </a:rPr>
              <a:t> to monitor validation accuracy.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Added </a:t>
            </a:r>
            <a:r>
              <a:rPr lang="en-US" b="1">
                <a:ea typeface="+mn-lt"/>
                <a:cs typeface="+mn-lt"/>
              </a:rPr>
              <a:t>L2 regularization</a:t>
            </a:r>
            <a:r>
              <a:rPr lang="en-US">
                <a:ea typeface="+mn-lt"/>
                <a:cs typeface="+mn-lt"/>
              </a:rPr>
              <a:t> and </a:t>
            </a:r>
            <a:r>
              <a:rPr lang="en-US" b="1">
                <a:ea typeface="+mn-lt"/>
                <a:cs typeface="+mn-lt"/>
              </a:rPr>
              <a:t>limited epochs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lvl="1"/>
            <a:r>
              <a:rPr lang="en-US">
                <a:ea typeface="+mn-lt"/>
                <a:cs typeface="+mn-lt"/>
              </a:rPr>
              <a:t>Used </a:t>
            </a:r>
            <a:r>
              <a:rPr lang="en-US" b="1">
                <a:ea typeface="+mn-lt"/>
                <a:cs typeface="+mn-lt"/>
              </a:rPr>
              <a:t>smaller architectures</a:t>
            </a:r>
            <a:r>
              <a:rPr lang="en-US">
                <a:ea typeface="+mn-lt"/>
                <a:cs typeface="+mn-lt"/>
              </a:rPr>
              <a:t> for better generalization.</a:t>
            </a:r>
            <a:endParaRPr lang="en-US"/>
          </a:p>
          <a:p>
            <a:pPr>
              <a:buFont typeface="Arial" panose="020B0504020202020204" pitchFamily="34" charset="0"/>
              <a:buChar char="•"/>
            </a:pPr>
            <a:r>
              <a:rPr lang="en-US" b="1">
                <a:ea typeface="+mn-lt"/>
                <a:cs typeface="+mn-lt"/>
              </a:rPr>
              <a:t>Final Evaluation:</a:t>
            </a:r>
            <a:br>
              <a:rPr lang="en-US" b="1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Model performance was tested on a 30% hold-out set</a:t>
            </a:r>
            <a:r>
              <a:rPr lang="en-US">
                <a:ea typeface="+mn-lt"/>
                <a:cs typeface="+mn-lt"/>
              </a:rPr>
              <a:t> for unbiased assessment.</a:t>
            </a:r>
            <a:endParaRPr lang="en-US">
              <a:cs typeface="Segoe UI"/>
            </a:endParaRPr>
          </a:p>
          <a:p>
            <a:pPr>
              <a:buFont typeface="Arial" panose="020B0504020202020204" pitchFamily="34" charset="0"/>
              <a:buChar char="•"/>
            </a:pPr>
            <a:endParaRPr lang="en-US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86938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D9EA8-7E51-ECEA-5FA0-9FB3E844E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505" y="202268"/>
            <a:ext cx="11880183" cy="1338551"/>
          </a:xfrm>
        </p:spPr>
        <p:txBody>
          <a:bodyPr>
            <a:normAutofit fontScale="90000"/>
          </a:bodyPr>
          <a:lstStyle/>
          <a:p>
            <a:endParaRPr lang="en-US"/>
          </a:p>
          <a:p>
            <a:endParaRPr lang="en-US"/>
          </a:p>
          <a:p>
            <a:r>
              <a:rPr lang="en-US" dirty="0">
                <a:ea typeface="+mj-lt"/>
                <a:cs typeface="+mj-lt"/>
              </a:rPr>
              <a:t>What ethical concerns might arise from deploying models trained on these datasets?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80401-C87F-37C1-CD5A-4ABEC0D0A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416" y="2371148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venir Next LT Pro"/>
              <a:buChar char="+"/>
            </a:pP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Sensitive Attributes:</a:t>
            </a:r>
            <a:br>
              <a:rPr lang="en-US" b="1" dirty="0">
                <a:ea typeface="+mn-lt"/>
                <a:cs typeface="+mn-lt"/>
              </a:rPr>
            </a:b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Dataset includes variables like race, sex, and marital status.</a:t>
            </a:r>
            <a:endParaRPr lang="en-US">
              <a:solidFill>
                <a:schemeClr val="tx1"/>
              </a:solidFill>
              <a:cs typeface="Segoe UI"/>
            </a:endParaRPr>
          </a:p>
          <a:p>
            <a:pPr>
              <a:buFont typeface="Avenir Next LT Pro"/>
              <a:buChar char="+"/>
            </a:pP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Bias Concern: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Models may learn unfair or discriminatory patterns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toward certain groups.</a:t>
            </a:r>
            <a:endParaRPr lang="en-US">
              <a:solidFill>
                <a:schemeClr val="tx1"/>
              </a:solidFill>
              <a:cs typeface="Segoe UI"/>
            </a:endParaRPr>
          </a:p>
          <a:p>
            <a:pPr>
              <a:buFont typeface="Avenir Next LT Pro"/>
              <a:buChar char="+"/>
            </a:pP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Mitigation Approach: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Perform fairness checks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and </a:t>
            </a:r>
            <a:r>
              <a:rPr lang="en-US" b="1" dirty="0">
                <a:solidFill>
                  <a:schemeClr val="tx1"/>
                </a:solidFill>
                <a:ea typeface="+mn-lt"/>
                <a:cs typeface="+mn-lt"/>
              </a:rPr>
              <a:t>consider excluding biased variables</a:t>
            </a:r>
            <a:r>
              <a:rPr lang="en-US" dirty="0">
                <a:solidFill>
                  <a:schemeClr val="tx1"/>
                </a:solidFill>
                <a:ea typeface="+mn-lt"/>
                <a:cs typeface="+mn-lt"/>
              </a:rPr>
              <a:t> when appropriate.</a:t>
            </a:r>
            <a:endParaRPr lang="en-US">
              <a:solidFill>
                <a:schemeClr val="tx1"/>
              </a:solidFill>
              <a:cs typeface="Segoe UI"/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548685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BB3C8-55BF-7E3B-219D-D33FB83FC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  <a:p>
            <a:endParaRPr lang="en-US"/>
          </a:p>
          <a:p>
            <a:r>
              <a:rPr lang="en-US" dirty="0">
                <a:ea typeface="+mj-lt"/>
                <a:cs typeface="+mj-lt"/>
              </a:rPr>
              <a:t>Why are activation functions necessary in neural networks?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019F50-FF09-D8D2-6E91-1418F45FC94B}"/>
              </a:ext>
            </a:extLst>
          </p:cNvPr>
          <p:cNvSpPr txBox="1"/>
          <p:nvPr/>
        </p:nvSpPr>
        <p:spPr>
          <a:xfrm>
            <a:off x="976924" y="2686539"/>
            <a:ext cx="9319845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i="0" u="none" strike="noStrike" dirty="0">
                <a:solidFill>
                  <a:srgbClr val="000000"/>
                </a:solidFill>
              </a:rPr>
              <a:t>Without Activation:</a:t>
            </a:r>
            <a:endParaRPr lang="en-US" sz="2800" b="1" i="0" u="none" strike="noStrike" dirty="0">
              <a:solidFill>
                <a:srgbClr val="000000"/>
              </a:solidFill>
              <a:cs typeface="Segoe UI"/>
            </a:endParaRPr>
          </a:p>
          <a:p>
            <a:pPr marL="228600" indent="-228600" algn="l">
              <a:buFont typeface="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</a:rPr>
              <a:t>Layers would </a:t>
            </a:r>
            <a:r>
              <a:rPr lang="en-US" sz="2800" b="1" i="0" u="none" strike="noStrike" dirty="0">
                <a:solidFill>
                  <a:srgbClr val="000000"/>
                </a:solidFill>
              </a:rPr>
              <a:t>collapse into a single linear function</a:t>
            </a:r>
            <a:r>
              <a:rPr lang="en-US" sz="2800" b="0" i="0" u="none" strike="noStrike" dirty="0">
                <a:solidFill>
                  <a:srgbClr val="000000"/>
                </a:solidFill>
              </a:rPr>
              <a:t>,</a:t>
            </a:r>
            <a:endParaRPr lang="en-US" sz="2800" b="0" i="0" u="none" strike="noStrike" dirty="0">
              <a:solidFill>
                <a:srgbClr val="000000"/>
              </a:solidFill>
              <a:cs typeface="Segoe UI"/>
            </a:endParaRPr>
          </a:p>
          <a:p>
            <a:pPr marL="228600" indent="-228600" algn="l">
              <a:buFont typeface=""/>
              <a:buChar char="•"/>
            </a:pPr>
            <a:r>
              <a:rPr lang="en-US" sz="2800" b="0" i="0" u="none" strike="noStrike" dirty="0">
                <a:solidFill>
                  <a:srgbClr val="000000"/>
                </a:solidFill>
              </a:rPr>
              <a:t>Making the network unable to capture non-linear relationships.</a:t>
            </a:r>
            <a:endParaRPr lang="en-US" sz="2800" b="0" i="0" u="none" strike="noStrike" dirty="0">
              <a:solidFill>
                <a:srgbClr val="000000"/>
              </a:solidFill>
              <a:cs typeface="Segoe UI"/>
            </a:endParaRPr>
          </a:p>
          <a:p>
            <a:pPr algn="l"/>
            <a:r>
              <a:rPr lang="en-US" sz="2800" b="1" i="0" u="none" strike="noStrike" dirty="0">
                <a:solidFill>
                  <a:srgbClr val="000000"/>
                </a:solidFill>
              </a:rPr>
              <a:t>Why </a:t>
            </a:r>
            <a:r>
              <a:rPr lang="en-US" sz="2800" b="1" i="0" u="none" strike="noStrike" dirty="0" err="1">
                <a:solidFill>
                  <a:srgbClr val="000000"/>
                </a:solidFill>
              </a:rPr>
              <a:t>ReLU</a:t>
            </a:r>
            <a:r>
              <a:rPr lang="en-US" sz="2800" b="1" i="0" u="none" strike="noStrike" dirty="0">
                <a:solidFill>
                  <a:srgbClr val="000000"/>
                </a:solidFill>
              </a:rPr>
              <a:t>:</a:t>
            </a:r>
            <a:endParaRPr lang="en-US" sz="2800" b="1" i="0" u="none" strike="noStrike" dirty="0">
              <a:solidFill>
                <a:srgbClr val="000000"/>
              </a:solidFill>
              <a:cs typeface="Segoe UI"/>
            </a:endParaRPr>
          </a:p>
          <a:p>
            <a:pPr marL="228600" indent="-228600" algn="l">
              <a:buFont typeface=""/>
              <a:buChar char="•"/>
            </a:pPr>
            <a:r>
              <a:rPr lang="en-US" sz="2800" b="1" i="0" u="none" strike="noStrike" dirty="0">
                <a:solidFill>
                  <a:srgbClr val="000000"/>
                </a:solidFill>
              </a:rPr>
              <a:t>Speeds up training</a:t>
            </a:r>
            <a:r>
              <a:rPr lang="en-US" sz="2800" b="0" i="0" u="none" strike="noStrike" dirty="0">
                <a:solidFill>
                  <a:srgbClr val="000000"/>
                </a:solidFill>
              </a:rPr>
              <a:t> through efficient gradient propagation.</a:t>
            </a:r>
            <a:endParaRPr lang="en-US" sz="2800" b="0" i="0" u="none" strike="noStrike" dirty="0">
              <a:solidFill>
                <a:srgbClr val="000000"/>
              </a:solidFill>
              <a:cs typeface="Segoe UI"/>
            </a:endParaRPr>
          </a:p>
          <a:p>
            <a:pPr marL="228600" indent="-228600" algn="l">
              <a:buFont typeface=""/>
              <a:buChar char="•"/>
            </a:pPr>
            <a:r>
              <a:rPr lang="en-US" sz="2800" b="1" i="0" u="none" strike="noStrike" dirty="0">
                <a:solidFill>
                  <a:srgbClr val="000000"/>
                </a:solidFill>
              </a:rPr>
              <a:t>Prevents vanishing gradients</a:t>
            </a:r>
            <a:r>
              <a:rPr lang="en-US" sz="2800" b="0" i="0" u="none" strike="noStrike" dirty="0">
                <a:solidFill>
                  <a:srgbClr val="000000"/>
                </a:solidFill>
              </a:rPr>
              <a:t>, keeping learning stable and fast.</a:t>
            </a:r>
            <a:endParaRPr lang="en-US" sz="2800" b="0" i="0" u="none" strike="noStrike" dirty="0">
              <a:solidFill>
                <a:srgbClr val="000000"/>
              </a:solidFill>
              <a:cs typeface="Segoe UI"/>
            </a:endParaRPr>
          </a:p>
          <a:p>
            <a:pPr algn="ctr"/>
            <a:endParaRPr lang="en-US" sz="2800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65713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AF30D-DFFA-F626-6D56-EC3973CA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B54E5-3799-339F-9E99-2671B2B76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714944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Rockwell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9c742c4-e61c-4fa5-be89-a3cb566a80d1}" enabled="0" method="" siteId="{79c742c4-e61c-4fa5-be89-a3cb566a80d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ExploreVTI</vt:lpstr>
      <vt:lpstr>Applying MLP</vt:lpstr>
      <vt:lpstr>Dataset &amp; Goal</vt:lpstr>
      <vt:lpstr>Preprocessing – Handling missing Values</vt:lpstr>
      <vt:lpstr>Preprocessing – Categorical Values</vt:lpstr>
      <vt:lpstr>Preprocessing – Numerical Values</vt:lpstr>
      <vt:lpstr>Performing MLP</vt:lpstr>
      <vt:lpstr>Train and Test while Tuning</vt:lpstr>
      <vt:lpstr>Evaluation</vt:lpstr>
      <vt:lpstr>Confusion Matrix</vt:lpstr>
      <vt:lpstr>  Why did we choose the specific architecture?</vt:lpstr>
      <vt:lpstr>  How did you monitor and mitigate overfitting in your models?</vt:lpstr>
      <vt:lpstr>  What ethical concerns might arise from deploying models trained on these datasets?</vt:lpstr>
      <vt:lpstr>  Why are activation functions necessary in neural networks?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Zach Lanter</dc:creator>
  <cp:revision>150</cp:revision>
  <dcterms:created xsi:type="dcterms:W3CDTF">2025-11-03T20:03:53Z</dcterms:created>
  <dcterms:modified xsi:type="dcterms:W3CDTF">2025-11-06T02:29:46Z</dcterms:modified>
</cp:coreProperties>
</file>